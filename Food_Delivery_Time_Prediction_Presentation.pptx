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1520"/>
            <a:ext cx="10728655" cy="53949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463040"/>
            <a:ext cx="9418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0284C7"/>
                </a:solidFill>
                <a:latin typeface="Arial"/>
              </a:defRPr>
            </a:pPr>
            <a:r>
              <a:t>B.TECH CSE 2024-28 | MACHINE LEARNING CASE STUDY</a:t>
            </a:r>
          </a:p>
          <a:p>
            <a:pPr>
              <a:spcAft>
                <a:spcPts val="1000"/>
              </a:spcAft>
              <a:defRPr sz="3200" b="1">
                <a:solidFill>
                  <a:srgbClr val="FFFFFF"/>
                </a:solidFill>
                <a:latin typeface="Arial"/>
              </a:defRPr>
            </a:pPr>
            <a:r>
              <a:t>Case Study 30: Food Delivery Time Prediction</a:t>
            </a:r>
          </a:p>
          <a:p>
            <a:pPr>
              <a:spcAft>
                <a:spcPts val="3200"/>
              </a:spcAft>
              <a:defRPr sz="1600">
                <a:solidFill>
                  <a:srgbClr val="CBD5E1"/>
                </a:solidFill>
                <a:latin typeface="Arial"/>
              </a:defRPr>
            </a:pPr>
            <a:r>
              <a:t>End-to-End Machine Learning Regression Pipeline, Outlier Sensitivity Analysis, and Web Deployment</a:t>
            </a:r>
          </a:p>
          <a:p>
            <a:pPr>
              <a:defRPr sz="1100">
                <a:solidFill>
                  <a:srgbClr val="64748B"/>
                </a:solidFill>
                <a:latin typeface="Arial"/>
              </a:defRPr>
            </a:pPr>
            <a:r>
              <a:t>Student Project Presentation | Department of Computer Science &amp; Engineering | Semester V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0284C7"/>
                </a:solidFill>
                <a:latin typeface="Arial"/>
              </a:defRPr>
            </a:pPr>
            <a:r>
              <a:t>B.TECH CSE SEMESTER V - MACHINE LEARNING CASE STUDY 30</a:t>
            </a:r>
          </a:p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Executive Summary &amp; Core Project 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3328416" cy="457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296265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F172A"/>
                </a:solidFill>
              </a:defRPr>
            </a:pPr>
            <a:r>
              <a:t>Business Context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- On-demand food delivery platforms (e.g., Zomato, Swiggy, Uber Eats) rely heavily on precise Estimated Time of Arrival (ETA).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- Inaccurate estimates lead to customer churn, driver dissatisfaction, and dispatch inefficiencies.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- Goal: Build a robust ML model that accurately predicts delivery times from operational and environmental attributes.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425696" y="1645920"/>
            <a:ext cx="3328416" cy="457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08576" y="1828800"/>
            <a:ext cx="296265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F172A"/>
                </a:solidFill>
              </a:defRPr>
            </a:pPr>
            <a:r>
              <a:t>Technical Objectives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- Conduct thorough Exploratory Data Analysis (EDA) on delivery records.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- Handle real-world missing values in weather and traffic conditions.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- Detect and treat severe outlier delays using Interquartile Range (IQR).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- Develop, tune, and evaluate 5 distinct regression algorithms.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- Perform 5-Fold Cross-Validation to guarantee model generalization.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8119872" y="1645920"/>
            <a:ext cx="3328416" cy="457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02752" y="1828800"/>
            <a:ext cx="296265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F172A"/>
                </a:solidFill>
              </a:defRPr>
            </a:pPr>
            <a:r>
              <a:t>Required Deliverables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- Model Benchmark: Compare R2, MSE, RMSE, and MAE across all models.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- MAE vs RMSE Study: Explain why MAE is superior under outlier delay shocks.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- Residual Analysis: Validate homoscedasticity and zero-mean error distribution.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- Interactive Web App: Deploy trained pipeline with user input controls and ETA confidence windows.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0284C7"/>
                </a:solidFill>
                <a:latin typeface="Arial"/>
              </a:defRPr>
            </a:pPr>
            <a:r>
              <a:t>B.TECH CSE SEMESTER V - MACHINE LEARNING CASE STUDY 30</a:t>
            </a:r>
          </a:p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Dataset Architecture &amp; Feature Engineering Specifications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645920"/>
          <a:ext cx="64008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463040"/>
                <a:gridCol w="2926080"/>
              </a:tblGrid>
              <a:tr h="57150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Attribute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Data Type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Operational Description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distance_km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Float (Continuous)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Trip distance between restaurant &amp; customer (1-25 km)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prep_time_min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Float (Continuous)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Kitchen preparation and packaging time (8-45 min)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traffic_density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Categorical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Road condition: Low, Medium, High, Jam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weather_condition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Categorical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Environmental state: Clear, Sunny, Rainy, Stormy, etc.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time_of_day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Categorical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Order placement window: Morning, Afternoon, Evening, Night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delivery_partner_rating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Float (Continuous)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Historical partner efficiency rating (3.0 to 5.0 stars)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delivery_time_min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Float (Target)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Total duration from order creation to customer receipt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7406640" y="1645920"/>
            <a:ext cx="4023360" cy="457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89520" y="1828800"/>
            <a:ext cx="3657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F172A"/>
                </a:solidFill>
              </a:defRPr>
            </a:pPr>
            <a:r>
              <a:t>Dataset Characteristics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- Sample Size: 5,000 historical order records generated deterministically based on real-world kinematics.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- Kinematic Modeling: Transit duration modeled by distance divided by traffic speed (Jam: 9 km/h, Low: 32 km/h).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- Weather Friction: Additive penalties applied for adverse conditions (Stormy: +14m, Rainy: +7m).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- Missing Value Injection: 4% realistic missing data injected into traffic and weather fields to test imputation logic.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- Delay Outliers: ~3.5% isolated breakdown events (35-75 min delay) injected to test metric robustness.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0284C7"/>
                </a:solidFill>
                <a:latin typeface="Arial"/>
              </a:defRPr>
            </a:pPr>
            <a:r>
              <a:t>B.TECH CSE SEMESTER V - MACHINE LEARNING CASE STUDY 30</a:t>
            </a:r>
          </a:p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Data Cleaning: Imputation &amp; IQR Outlier Capping</a:t>
            </a:r>
          </a:p>
        </p:txBody>
      </p:sp>
      <p:pic>
        <p:nvPicPr>
          <p:cNvPr id="3" name="Picture 2" descr="1_target_and_outli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217920" cy="276352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132320" y="1645920"/>
            <a:ext cx="4297680" cy="457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0" y="1828800"/>
            <a:ext cx="39319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F172A"/>
                </a:solidFill>
              </a:defRPr>
            </a:pPr>
            <a:r>
              <a:t>Outlier Handling Methodology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- Dynamic Imputation: Missing values in categorical columns (traffic &amp; weather) filled with column mode; numerical columns filled with median.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- Right-Skewed Distribution: Raw delivery time has positive skew (median = 43.2 min, max = 180 min) due to severe delays.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- IQR Formulation: Q1 = 33.6 min, Q3 = 56.3 min, IQR = 22.7 min.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- Upper Threshold: Q3 + 1.5 * IQR = 75.2 minutes. Orders beyond this threshold are classified as outliers.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- Capping (Winsorization): Extreme outlier delays are clipped to the upper threshold (75 min).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- Impact: Stabilizes loss gradients and prevents linear models from blowing up while preserving all training samples.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0284C7"/>
                </a:solidFill>
                <a:latin typeface="Arial"/>
              </a:defRPr>
            </a:pPr>
            <a:r>
              <a:t>B.TECH CSE SEMESTER V - MACHINE LEARNING CASE STUDY 30</a:t>
            </a:r>
          </a:p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Bivariate Analysis: Primary Continuous Determinants</a:t>
            </a:r>
          </a:p>
        </p:txBody>
      </p:sp>
      <p:pic>
        <p:nvPicPr>
          <p:cNvPr id="3" name="Picture 2" descr="2_bivariate_driv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10698480" cy="3403057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31520" y="4480560"/>
            <a:ext cx="3328416" cy="1828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4617720"/>
            <a:ext cx="3054096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F172A"/>
                </a:solidFill>
              </a:defRPr>
            </a:pPr>
            <a:r>
              <a:t>Distance Relationship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Distance exhibits a strong direct positive relationship with delivery duration. Travel time increases proportionally with trip kilometers.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425696" y="4480560"/>
            <a:ext cx="3328416" cy="1828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62856" y="4617720"/>
            <a:ext cx="3054096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F172A"/>
                </a:solidFill>
              </a:defRPr>
            </a:pPr>
            <a:r>
              <a:t>Kitchen Prep Latency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Kitchen preparation time serves as a direct baseline additive constant (8 to 45 mins). Order prep occurs before driver dispatch.</a:t>
            </a:r>
          </a:p>
        </p:txBody>
      </p:sp>
      <p:sp>
        <p:nvSpPr>
          <p:cNvPr id="8" name="Rectangle 7"/>
          <p:cNvSpPr/>
          <p:nvPr/>
        </p:nvSpPr>
        <p:spPr>
          <a:xfrm>
            <a:off x="8119872" y="4480560"/>
            <a:ext cx="3328416" cy="1828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57032" y="4617720"/>
            <a:ext cx="3054096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F172A"/>
                </a:solidFill>
              </a:defRPr>
            </a:pPr>
            <a:r>
              <a:t>Partner Rating Influence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Delivery partners with higher historical ratings (&gt;4.5 stars) demonstrate marginal efficiency gains through faster pickup and route familiarity.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0284C7"/>
                </a:solidFill>
                <a:latin typeface="Arial"/>
              </a:defRPr>
            </a:pPr>
            <a:r>
              <a:t>B.TECH CSE SEMESTER V - MACHINE LEARNING CASE STUDY 30</a:t>
            </a:r>
          </a:p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Environmental Friction: Traffic Congestion &amp; Weather Impact</a:t>
            </a:r>
          </a:p>
        </p:txBody>
      </p:sp>
      <p:pic>
        <p:nvPicPr>
          <p:cNvPr id="3" name="Picture 2" descr="3_environmental_facto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583680" cy="2655619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498079" y="1645920"/>
            <a:ext cx="3931920" cy="457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80960" y="1828800"/>
            <a:ext cx="35661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F172A"/>
                </a:solidFill>
              </a:defRPr>
            </a:pPr>
            <a:r>
              <a:t>Operational Insights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- Traffic Non-Linearity: Moving from Low to Jam conditions more than doubles median transit time.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- Jam Density Penalty: Median delivery time climbs from 34 mins in Low traffic to over 64 mins during Jam conditions.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- Weather Delay Multiplier: Stormy and Rainy weather severely restrict courier mobility, shifting distributions rightward.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- Hazard Compounding: The combination of Peak Traffic and Stormy weather produces severe compounding delays that simple linear models struggle to capture without interaction terms.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0284C7"/>
                </a:solidFill>
                <a:latin typeface="Arial"/>
              </a:defRPr>
            </a:pPr>
            <a:r>
              <a:t>B.TECH CSE SEMESTER V - MACHINE LEARNING CASE STUDY 30</a:t>
            </a:r>
          </a:p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Correlation Analysis &amp; Multicollinearity Diagnostics</a:t>
            </a:r>
          </a:p>
        </p:txBody>
      </p:sp>
      <p:pic>
        <p:nvPicPr>
          <p:cNvPr id="3" name="Picture 2" descr="4_correlation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029200" cy="374696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035040" y="1645920"/>
            <a:ext cx="5394960" cy="457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F172A"/>
                </a:solidFill>
              </a:defRPr>
            </a:pPr>
            <a:r>
              <a:t>Correlation Diagnostics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- Feature Independence: Numerical predictors (distance, prep time, rating) exhibit virtually zero correlation with one another (|r| &lt; 0.05).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- Absence of Multicollinearity: The absence of inter-feature correlation ensures stable coefficient estimation in Linear and Polynomial regression without variance inflation.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- Primary Predictor: Distance shows the highest quantitative linear correlation with delivery time (r = 0.65).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- Secondary Predictor: Kitchen preparation time exhibits solid linear correlation (r = 0.38).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- Categorical Dominance: While categorical features (traffic, weather) are analyzed via ANOVA, one-hot encoding confirms their massive relative contribution to target variance.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0284C7"/>
                </a:solidFill>
                <a:latin typeface="Arial"/>
              </a:defRPr>
            </a:pPr>
            <a:r>
              <a:t>B.TECH CSE SEMESTER V - MACHINE LEARNING CASE STUDY 30</a:t>
            </a:r>
          </a:p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Architectural Overview of the 5 Regression Algorithms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10698480" cy="8046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719072"/>
            <a:ext cx="10332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1. Linear Regression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Architecture: Parametric Baseline | Description: Models linear relationship: y = w0 + sum(wi * xi). Fast and interpretable, but fails to capture non-linear traffic and weather interaction effects.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560320"/>
            <a:ext cx="10698480" cy="8046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633472"/>
            <a:ext cx="10332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2. Polynomial Regression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Architecture: Non-Linear Feature Expander | Description: Generates degree-2 polynomial and cross-product interaction terms (e.g. distance * traffic). Captures non-linear compounding delays with moderate parameter growth.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474720"/>
            <a:ext cx="10698480" cy="8046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547872"/>
            <a:ext cx="10332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3. Decision Tree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Architecture: Rule-Based Partitioner | Description: Recursively splits feature space into orthogonal rectangular regions based on MSE reduction. Captures step thresholds but prone to high variance.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4389120"/>
            <a:ext cx="10698480" cy="8046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462272"/>
            <a:ext cx="10332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4. Random Forest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Architecture: Bagging Ensemble | Description: Trains 100 decorrelated decision trees using bootstrap aggregating and random feature subsets. Drastically reduces variance and resists overfitting.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5303520"/>
            <a:ext cx="10698480" cy="8046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376672"/>
            <a:ext cx="10332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5. Gradient Boosting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Architecture: Sequential Boosting Ensemble | Description: Sequentially fits trees to the pseudo-residuals of previous iterations using gradient descent. Achieves the highest predictive accuracy and minimal error.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0284C7"/>
                </a:solidFill>
                <a:latin typeface="Arial"/>
              </a:defRPr>
            </a:pPr>
            <a:r>
              <a:t>B.TECH CSE SEMESTER V - MACHINE LEARNING CASE STUDY 30</a:t>
            </a:r>
          </a:p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Empirical Benchmark: Comparative Performance Across All Models</a:t>
            </a:r>
          </a:p>
        </p:txBody>
      </p:sp>
      <p:pic>
        <p:nvPicPr>
          <p:cNvPr id="3" name="Picture 2" descr="5_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10698480" cy="3395280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4389120"/>
          <a:ext cx="1069848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  <a:gridCol w="1783080"/>
                <a:gridCol w="1783080"/>
                <a:gridCol w="1783080"/>
              </a:tblGrid>
              <a:tr h="335280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Algorithm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Test R2 Score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5-Fold CV R2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MSE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RMSE (min)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MAE (min)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b="1" sz="950">
                          <a:solidFill>
                            <a:srgbClr val="166534"/>
                          </a:solidFill>
                        </a:defRPr>
                      </a:pPr>
                      <a:r>
                        <a:t>Gradient Boosting Regressor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50">
                          <a:solidFill>
                            <a:srgbClr val="166534"/>
                          </a:solidFill>
                        </a:defRPr>
                      </a:pPr>
                      <a:r>
                        <a:t>0.7545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50">
                          <a:solidFill>
                            <a:srgbClr val="166534"/>
                          </a:solidFill>
                        </a:defRPr>
                      </a:pPr>
                      <a:r>
                        <a:t>0.7783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50">
                          <a:solidFill>
                            <a:srgbClr val="166534"/>
                          </a:solidFill>
                        </a:defRPr>
                      </a:pPr>
                      <a:r>
                        <a:t>87.65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50">
                          <a:solidFill>
                            <a:srgbClr val="166534"/>
                          </a:solidFill>
                        </a:defRPr>
                      </a:pPr>
                      <a:r>
                        <a:t>9.36 min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50">
                          <a:solidFill>
                            <a:srgbClr val="166534"/>
                          </a:solidFill>
                        </a:defRPr>
                      </a:pPr>
                      <a:r>
                        <a:t>5.02 min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b="0" sz="950">
                          <a:solidFill>
                            <a:srgbClr val="1E293B"/>
                          </a:solidFill>
                        </a:defRPr>
                      </a:pPr>
                      <a:r>
                        <a:t>Polynomial Regression (Deg 2)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0" sz="950">
                          <a:solidFill>
                            <a:srgbClr val="1E293B"/>
                          </a:solidFill>
                        </a:defRPr>
                      </a:pPr>
                      <a:r>
                        <a:t>0.7538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0" sz="950">
                          <a:solidFill>
                            <a:srgbClr val="1E293B"/>
                          </a:solidFill>
                        </a:defRPr>
                      </a:pPr>
                      <a:r>
                        <a:t>0.7753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0" sz="950">
                          <a:solidFill>
                            <a:srgbClr val="1E293B"/>
                          </a:solidFill>
                        </a:defRPr>
                      </a:pPr>
                      <a:r>
                        <a:t>87.88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0" sz="950">
                          <a:solidFill>
                            <a:srgbClr val="1E293B"/>
                          </a:solidFill>
                        </a:defRPr>
                      </a:pPr>
                      <a:r>
                        <a:t>9.37 min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0" sz="950">
                          <a:solidFill>
                            <a:srgbClr val="1E293B"/>
                          </a:solidFill>
                        </a:defRPr>
                      </a:pPr>
                      <a:r>
                        <a:t>5.16 min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b="0" sz="950">
                          <a:solidFill>
                            <a:srgbClr val="1E293B"/>
                          </a:solidFill>
                        </a:defRPr>
                      </a:pPr>
                      <a:r>
                        <a:t>Random Forest Regressor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0" sz="950">
                          <a:solidFill>
                            <a:srgbClr val="1E293B"/>
                          </a:solidFill>
                        </a:defRPr>
                      </a:pPr>
                      <a:r>
                        <a:t>0.7401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0" sz="950">
                          <a:solidFill>
                            <a:srgbClr val="1E293B"/>
                          </a:solidFill>
                        </a:defRPr>
                      </a:pPr>
                      <a:r>
                        <a:t>0.7541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0" sz="950">
                          <a:solidFill>
                            <a:srgbClr val="1E293B"/>
                          </a:solidFill>
                        </a:defRPr>
                      </a:pPr>
                      <a:r>
                        <a:t>92.78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0" sz="950">
                          <a:solidFill>
                            <a:srgbClr val="1E293B"/>
                          </a:solidFill>
                        </a:defRPr>
                      </a:pPr>
                      <a:r>
                        <a:t>9.63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0" sz="950">
                          <a:solidFill>
                            <a:srgbClr val="1E293B"/>
                          </a:solidFill>
                        </a:defRPr>
                      </a:pPr>
                      <a:r>
                        <a:t>5.40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b="0" sz="950">
                          <a:solidFill>
                            <a:srgbClr val="1E293B"/>
                          </a:solidFill>
                        </a:defRPr>
                      </a:pPr>
                      <a:r>
                        <a:t>Linear Regression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0" sz="950">
                          <a:solidFill>
                            <a:srgbClr val="1E293B"/>
                          </a:solidFill>
                        </a:defRPr>
                      </a:pPr>
                      <a:r>
                        <a:t>0.7273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0" sz="950">
                          <a:solidFill>
                            <a:srgbClr val="1E293B"/>
                          </a:solidFill>
                        </a:defRPr>
                      </a:pPr>
                      <a:r>
                        <a:t>0.7483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0" sz="950">
                          <a:solidFill>
                            <a:srgbClr val="1E293B"/>
                          </a:solidFill>
                        </a:defRPr>
                      </a:pPr>
                      <a:r>
                        <a:t>97.36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0" sz="950">
                          <a:solidFill>
                            <a:srgbClr val="1E293B"/>
                          </a:solidFill>
                        </a:defRPr>
                      </a:pPr>
                      <a:r>
                        <a:t>9.87 min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0" sz="950">
                          <a:solidFill>
                            <a:srgbClr val="1E293B"/>
                          </a:solidFill>
                        </a:defRPr>
                      </a:pPr>
                      <a:r>
                        <a:t>5.68 min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b="0" sz="950">
                          <a:solidFill>
                            <a:srgbClr val="1E293B"/>
                          </a:solidFill>
                        </a:defRPr>
                      </a:pPr>
                      <a:r>
                        <a:t>Decision Tree Regressor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0" sz="950">
                          <a:solidFill>
                            <a:srgbClr val="1E293B"/>
                          </a:solidFill>
                        </a:defRPr>
                      </a:pPr>
                      <a:r>
                        <a:t>0.6592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0" sz="950">
                          <a:solidFill>
                            <a:srgbClr val="1E293B"/>
                          </a:solidFill>
                        </a:defRPr>
                      </a:pPr>
                      <a:r>
                        <a:t>0.6868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0" sz="950">
                          <a:solidFill>
                            <a:srgbClr val="1E293B"/>
                          </a:solidFill>
                        </a:defRPr>
                      </a:pPr>
                      <a:r>
                        <a:t>121.65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0" sz="950">
                          <a:solidFill>
                            <a:srgbClr val="1E293B"/>
                          </a:solidFill>
                        </a:defRPr>
                      </a:pPr>
                      <a:r>
                        <a:t>11.03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0" sz="950">
                          <a:solidFill>
                            <a:srgbClr val="1E293B"/>
                          </a:solidFill>
                        </a:defRPr>
                      </a:pPr>
                      <a:r>
                        <a:t>7.02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0284C7"/>
                </a:solidFill>
                <a:latin typeface="Arial"/>
              </a:defRPr>
            </a:pPr>
            <a:r>
              <a:t>B.TECH CSE SEMESTER V - MACHINE LEARNING CASE STUDY 30</a:t>
            </a:r>
          </a:p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In-Depth Study: MAE vs RMSE &amp; Outlier Delay Sensitivity</a:t>
            </a:r>
          </a:p>
        </p:txBody>
      </p:sp>
      <p:pic>
        <p:nvPicPr>
          <p:cNvPr id="3" name="Picture 2" descr="6_mae_vs_rmse_outli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852160" cy="325805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766560" y="1645920"/>
            <a:ext cx="4663440" cy="457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949440" y="1828800"/>
            <a:ext cx="42976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F172A"/>
                </a:solidFill>
              </a:defRPr>
            </a:pPr>
            <a:r>
              <a:t>Why MAE is Preferred Over RMSE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- Mathematical Core: MAE penalizes errors linearly (e_i = |y - y_hat|), whereas RMSE squares individual deviations (e_i^2).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- Outlier Amplification: A single order delayed by 60 mins creates an error of 60 in MAE space, but 3,600 in squared MSE space!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- Empirical Proof: When tested on raw delayed orders: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-    - MAE increases only modestly from 5.0m to 5.9m (+18%).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-    - RMSE spikes dramatically from 9.4m to 15.6m (+66%)!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- Customer Perception: Customers perceive delivery delays on a linear scale. An operational promise of +/- 5 mins is intuitive and meaningful.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- Decision: MAE is the primary benchmark for delivery estimation because isolated black-swan delays (flat tires, kitchen fires) unfairly corrupt RMSE.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0284C7"/>
                </a:solidFill>
                <a:latin typeface="Arial"/>
              </a:defRPr>
            </a:pPr>
            <a:r>
              <a:t>B.TECH CSE SEMESTER V - MACHINE LEARNING CASE STUDY 30</a:t>
            </a:r>
          </a:p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Diagnostic Residual Analysis on Gradient Boosting Regressor</a:t>
            </a:r>
          </a:p>
        </p:txBody>
      </p:sp>
      <p:pic>
        <p:nvPicPr>
          <p:cNvPr id="3" name="Picture 2" descr="7_residual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766560" cy="2730221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680960" y="1645920"/>
            <a:ext cx="3749039" cy="457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63840" y="1828800"/>
            <a:ext cx="33832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F172A"/>
                </a:solidFill>
              </a:defRPr>
            </a:pPr>
            <a:r>
              <a:t>Validation of Assumptions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- 1. Homoscedasticity: The residual scatter plot shows consistent, uniform variance across the entire predicted ETA spectrum (20 to 75 mins). No cone-shaped heteroscedasticity is observed.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- 2. Zero-Mean Error: The mean residual error is 0.003 minutes, confirming that model predictions are completely unbiased.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- 3. Normal Distribution: The residual histogram aligns closely with a Gaussian bell curve centered at zero.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- 4. No Systematic Bias: Errors are randomly distributed, confirming that the model extracted all learnable structural signals from the predictors.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0284C7"/>
                </a:solidFill>
                <a:latin typeface="Arial"/>
              </a:defRPr>
            </a:pPr>
            <a:r>
              <a:t>B.TECH CSE SEMESTER V - MACHINE LEARNING CASE STUDY 30</a:t>
            </a:r>
          </a:p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Feature Importance: Identifying Key Operational Drivers</a:t>
            </a:r>
          </a:p>
        </p:txBody>
      </p:sp>
      <p:pic>
        <p:nvPicPr>
          <p:cNvPr id="3" name="Picture 2" descr="8_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217920" cy="307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132320" y="1645920"/>
            <a:ext cx="4297680" cy="457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0" y="1828800"/>
            <a:ext cx="39319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F172A"/>
                </a:solidFill>
              </a:defRPr>
            </a:pPr>
            <a:r>
              <a:t>Operational Factor Rankings</a:t>
            </a:r>
          </a:p>
          <a:p>
            <a:pPr>
              <a:spcAft>
                <a:spcPts val="700"/>
              </a:spcAft>
              <a:defRPr sz="1100">
                <a:solidFill>
                  <a:srgbClr val="1E293B"/>
                </a:solidFill>
              </a:defRPr>
            </a:pPr>
            <a:r>
              <a:t>- 1. Trip Distance (~48% Importance): The dominant predictive factor determining baseline transit time.</a:t>
            </a:r>
          </a:p>
          <a:p>
            <a:pPr>
              <a:spcAft>
                <a:spcPts val="700"/>
              </a:spcAft>
              <a:defRPr sz="1100">
                <a:solidFill>
                  <a:srgbClr val="1E293B"/>
                </a:solidFill>
              </a:defRPr>
            </a:pPr>
            <a:r>
              <a:t>- 2. Traffic Congestion (~24% Importance): 'Jam' and 'High' traffic conditions create the largest friction multiplier.</a:t>
            </a:r>
          </a:p>
          <a:p>
            <a:pPr>
              <a:spcAft>
                <a:spcPts val="700"/>
              </a:spcAft>
              <a:defRPr sz="1100">
                <a:solidFill>
                  <a:srgbClr val="1E293B"/>
                </a:solidFill>
              </a:defRPr>
            </a:pPr>
            <a:r>
              <a:t>- 3. Kitchen Prep Time (~18% Importance): Critical operational bottleneck; accurate kitchen telemetry is essential.</a:t>
            </a:r>
          </a:p>
          <a:p>
            <a:pPr>
              <a:spcAft>
                <a:spcPts val="700"/>
              </a:spcAft>
              <a:defRPr sz="1100">
                <a:solidFill>
                  <a:srgbClr val="1E293B"/>
                </a:solidFill>
              </a:defRPr>
            </a:pPr>
            <a:r>
              <a:t>- 4. Weather Conditions (~7% Importance): Stormy and Rainy conditions add non-trivial friction.</a:t>
            </a:r>
          </a:p>
          <a:p>
            <a:pPr>
              <a:spcAft>
                <a:spcPts val="700"/>
              </a:spcAft>
              <a:defRPr sz="1100">
                <a:solidFill>
                  <a:srgbClr val="1E293B"/>
                </a:solidFill>
              </a:defRPr>
            </a:pPr>
            <a:r>
              <a:t>- 5. Partner Rating &amp; Time of Day (~3%): Minor operational efficiency contributors.</a:t>
            </a:r>
          </a:p>
          <a:p>
            <a:pPr>
              <a:spcAft>
                <a:spcPts val="700"/>
              </a:spcAft>
              <a:defRPr sz="1100">
                <a:solidFill>
                  <a:srgbClr val="1E293B"/>
                </a:solidFill>
              </a:defRPr>
            </a:pPr>
            <a:r>
              <a:t>- Strategic Conclusion: Delivery platforms should prioritize intelligent routing and real-time kitchen readiness to optimize customer ETAs.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0284C7"/>
                </a:solidFill>
                <a:latin typeface="Arial"/>
              </a:defRPr>
            </a:pPr>
            <a:r>
              <a:t>B.TECH CSE SEMESTER V - MACHINE LEARNING CASE STUDY 30</a:t>
            </a:r>
          </a:p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Interactive Web Application Deployment (Streamlit)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3328416" cy="457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296265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0F172A"/>
                </a:solidFill>
              </a:defRPr>
            </a:pPr>
            <a:r>
              <a:t>Application Architecture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- Framework: Streamlit (Full-Stack Python)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- Inference Engine: Serialized Scikit-learn Pipeline (best_delivery_model.pkl)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- Pre-processing: Dynamic categorical encoding and standard scaling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- Execution Model: Server-side real-time calculation with cached resources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425696" y="1645920"/>
            <a:ext cx="3328416" cy="457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08576" y="1828800"/>
            <a:ext cx="296265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0F172A"/>
                </a:solidFill>
              </a:defRPr>
            </a:pPr>
            <a:r>
              <a:t>User Interface Features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- Interactive Inputs: Sliders for Distance &amp; Kitchen Prep; dropdowns for Traffic, Weather, Schedule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- Primary Output: Instant Predicted ETA in minutes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- Operational Window: Dynamic confidence interval (ETA +/- MAE)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- Visible Toggle Controls: Priority Courier Dispatch switch and Detail View toggle</a:t>
            </a:r>
          </a:p>
        </p:txBody>
      </p:sp>
      <p:sp>
        <p:nvSpPr>
          <p:cNvPr id="7" name="Rectangle 6"/>
          <p:cNvSpPr/>
          <p:nvPr/>
        </p:nvSpPr>
        <p:spPr>
          <a:xfrm>
            <a:off x="8119872" y="1645920"/>
            <a:ext cx="3328416" cy="457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02752" y="1828800"/>
            <a:ext cx="296265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0F172A"/>
                </a:solidFill>
              </a:defRPr>
            </a:pPr>
            <a:r>
              <a:t>Cloud Deployment Workflow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- Version Control: Full project committed and pushed to GitHub (Rizwan2611/food-delivery-time-prediction)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- Hosting: Streamlit Community Cloud (Free public cloud deployment)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- Continuous Deployment: Automatic hot-reload on every Git push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- Public Access: Live web URL accessible across desktop and mobile devices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0284C7"/>
                </a:solidFill>
                <a:latin typeface="Arial"/>
              </a:defRPr>
            </a:pPr>
            <a:r>
              <a:t>B.TECH CSE SEMESTER V - MACHINE LEARNING CASE STUDY 30</a:t>
            </a:r>
          </a:p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Solutions to Case Study Questions: Questions 1 to 4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10698480" cy="10058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719072"/>
            <a:ext cx="1033272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50" b="1">
                <a:solidFill>
                  <a:srgbClr val="0F172A"/>
                </a:solidFill>
              </a:defRPr>
            </a:pPr>
            <a:r>
              <a:t>Q1: Can delivery time be predicted from order attributes?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YES. The regression models achieve R2 = 0.755 with a Mean Absolute Error of ~5.0 minutes. Order attributes (distance, prep time, traffic level, and weather) provide robust predictive power to estimate delivery duration.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761488"/>
            <a:ext cx="10698480" cy="10058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834640"/>
            <a:ext cx="1033272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50" b="1">
                <a:solidFill>
                  <a:srgbClr val="0F172A"/>
                </a:solidFill>
              </a:defRPr>
            </a:pPr>
            <a:r>
              <a:t>Q2: Which factor most affects delivery time?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Trip Distance and Traffic Congestion are the two most dominant factors, accounting for &gt;70% of total model variance. Distance dictates the baseline route kilometers, while traffic acts as a non-linear velocity multiplier.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877056"/>
            <a:ext cx="10698480" cy="10058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950208"/>
            <a:ext cx="1033272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50" b="1">
                <a:solidFill>
                  <a:srgbClr val="0F172A"/>
                </a:solidFill>
              </a:defRPr>
            </a:pPr>
            <a:r>
              <a:t>Q3: Why might MAE be preferred over RMSE here?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Because RMSE squares individual errors, isolated extreme delays (e.g. 60-min vehicle breakdown) exponentially inflate the metric. MAE treats error proportionally, aligning directly with everyday customer expectations.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4992624"/>
            <a:ext cx="10698480" cy="10058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065776"/>
            <a:ext cx="1033272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50" b="1">
                <a:solidFill>
                  <a:srgbClr val="0F172A"/>
                </a:solidFill>
              </a:defRPr>
            </a:pPr>
            <a:r>
              <a:t>Q4: How do extremely delayed orders affect each metric?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Extremely delayed orders cause RMSE to surge by +66% (from 9.4m to 15.6m), whereas MAE increases by only +18% (from 5.0m to 5.9m). Outliers corrupt squared metrics while leaving absolute metrics stable.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0284C7"/>
                </a:solidFill>
                <a:latin typeface="Arial"/>
              </a:defRPr>
            </a:pPr>
            <a:r>
              <a:t>B.TECH CSE SEMESTER V - MACHINE LEARNING CASE STUDY 30</a:t>
            </a:r>
          </a:p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Solutions to Case Study Questions: Questions 5 to 7 &amp; Limitations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10698480" cy="9875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719072"/>
            <a:ext cx="1033272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50" b="1">
                <a:solidFill>
                  <a:srgbClr val="0F172A"/>
                </a:solidFill>
              </a:defRPr>
            </a:pPr>
            <a:r>
              <a:t>Q5: Which algorithm performs best?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Gradient Boosting Regressor achieved the highest performance (R2 = 0.7545, RMSE = 9.36m, MAE = 5.02m), closely followed by Polynomial Regression and Random Forest. Tree ensembles excel at capturing non-linear feature interactions.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743200"/>
            <a:ext cx="10698480" cy="9875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816352"/>
            <a:ext cx="1033272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50" b="1">
                <a:solidFill>
                  <a:srgbClr val="0F172A"/>
                </a:solidFill>
              </a:defRPr>
            </a:pPr>
            <a:r>
              <a:t>Q6: How well does the model perform on new orders?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Through 5-Fold Cross-Validation, the model demonstrated tight consistency (Mean CV R2 = 0.7783) across folds, confirming excellent generalization to unseen orders without overfitting.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840480"/>
            <a:ext cx="10698480" cy="9875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913632"/>
            <a:ext cx="1033272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50" b="1">
                <a:solidFill>
                  <a:srgbClr val="0F172A"/>
                </a:solidFill>
              </a:defRPr>
            </a:pPr>
            <a:r>
              <a:t>Q7: Can the model be deployed for customer estimates?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YES. The model can provide a point estimate (e.g. 38 mins) alongside an operational confidence window (e.g. 33-43 mins, margin +/- 5.0 mins) for transparent customer communication.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5120640"/>
            <a:ext cx="10698480" cy="1188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193792"/>
            <a:ext cx="10332720" cy="104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50" b="1">
                <a:solidFill>
                  <a:srgbClr val="B91C1C"/>
                </a:solidFill>
              </a:defRPr>
            </a:pPr>
            <a:r>
              <a:t>Real-World Operational Limitations &amp; Future Enhancements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Static vs Real-Time GPS: The model currently relies on discrete categorical traffic levels rather than live GPS telemetry. Sudden micro-weather changes, elevator delays in high-rise buildings, and restaurant kitchen queue bottlenecks cannot be fully captured without real-time IoT integration.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0284C7"/>
                </a:solidFill>
                <a:latin typeface="Arial"/>
              </a:defRPr>
            </a:pPr>
            <a:r>
              <a:t>B.TECH CSE SEMESTER V - MACHINE LEARNING CASE STUDY 30</a:t>
            </a:r>
          </a:p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Project Summary &amp; Key Takeaways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5175504" cy="457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4809744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F172A"/>
                </a:solidFill>
              </a:defRPr>
            </a:pPr>
            <a:r>
              <a:t>Technical Achievements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- Developed a complete end-to-end Machine Learning regression pipeline conforming to B.Tech CSE Semester V guidelines.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- Addressed real-world data issues: dynamic mode imputation for missing data and IQR-based Winsorization for severe delay outliers.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- Implemented and tuned 5 algorithms: Linear, Polynomial (Deg 2), Decision Tree, Random Forest, and Gradient Boosting.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- Conducted rigorous evaluation via R2, MSE, RMSE, MAE, and 5-Fold Cross-Validation.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- Validated all linear regression assumptions via diagnostic residual plots.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72784" y="1645920"/>
            <a:ext cx="5175504" cy="457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55664" y="1828800"/>
            <a:ext cx="4809744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F172A"/>
                </a:solidFill>
              </a:defRPr>
            </a:pPr>
            <a:r>
              <a:t>Operational &amp; Business Value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- Proven Metric Reliability: Established conclusively why MAE is the preferred customer metric over RMSE for food delivery platforms.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- Feature Insights: Distance and Traffic Congestion account for &gt;70% of delivery duration variance.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- Production Ready: Deployed the trained pipeline into an interactive, emoji-free web interface using Streamlit.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- Full Reproducibility: Code organized into a clean Jupyter Notebook, serialized model artifact, and GitHub repository ready for cloud hosting.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