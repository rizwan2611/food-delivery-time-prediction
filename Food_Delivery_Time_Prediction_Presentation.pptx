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18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284C7"/>
                </a:solidFill>
              </a:defRPr>
            </a:pPr>
            <a:r>
              <a:t>B.TECH CSE 2024-28 | MACHINE LEARNING CASE STUDY</a:t>
            </a:r>
          </a:p>
          <a:p>
            <a:pPr>
              <a:spcAft>
                <a:spcPts val="1000"/>
              </a:spcAft>
              <a:defRPr sz="3200" b="1">
                <a:solidFill>
                  <a:srgbClr val="FFFFFF"/>
                </a:solidFill>
              </a:defRPr>
            </a:pPr>
            <a:r>
              <a:t>Case Study 30: Food Delivery Time Prediction</a:t>
            </a:r>
          </a:p>
          <a:p>
            <a:pPr>
              <a:spcAft>
                <a:spcPts val="3200"/>
              </a:spcAft>
              <a:defRPr sz="1600">
                <a:solidFill>
                  <a:srgbClr val="CBD5E1"/>
                </a:solidFill>
              </a:defRPr>
            </a:pPr>
            <a:r>
              <a:t>End-to-End Regression Modeling, Outlier Sensitivity Analysis, and Web Deployment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Comprehensive Visual Project Presentation | Machine Learning (Semester V)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Project Background &amp; Technical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328416" cy="4846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96265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</a:defRPr>
            </a:pPr>
            <a:r>
              <a:t>Business Motivation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Customer Retention: Providing accurate Estimated Time of Arrival (ETA) is the single largest driver of food platform loyalty.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Dispatch Optimization: Accurate kitchen and transit predictions reduce idle courier wait times.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Operational Transparency: Communicating confidence windows (+/- margin of error) mitigates delivery frustration.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425696" y="1463040"/>
            <a:ext cx="3328416" cy="4846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08576" y="1645920"/>
            <a:ext cx="296265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</a:defRPr>
            </a:pPr>
            <a:r>
              <a:t>Technical Objectives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Feature Engineering: Preprocess continuous kinematics and encode categorical multi-class features.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Outlier Mitigation: Detect severe delay spikes using IQR fences and apply Winsorization.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Algorithm Benchmark: Develop, evaluate, and tune 5 regression algorithms using 5-fold cross-validation.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Metric Analysis: Rigorously analyze why MAE is superior to RMSE under delay shocks.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19872" y="1463040"/>
            <a:ext cx="3328416" cy="4846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2752" y="1645920"/>
            <a:ext cx="296265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</a:defRPr>
            </a:pPr>
            <a:r>
              <a:t>Production Deliverables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Jupyter Notebook: Pre-rendered, unhardcoded notebook covering all stages of the ML lifecycle.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Serialized Model Pipeline: Production-ready Scikit-Learn artifact containing model, scaler, and metadata.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Interactive Web App: Clean, responsive Streamlit dashboard with parameter sliders and priority dispatch toggle.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Dataset Architecture &amp; Feature Definitions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64008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3017520"/>
              </a:tblGrid>
              <a:tr h="60579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Attribute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Data Type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Operational Description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distance_km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Float (Continuous)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Haversine/Road trip distance (1.0 to 25.0 km)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prep_time_min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Float (Continuous)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Kitchen preparation and packaging duration (8 to 45 min)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traffic_density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Categorical (4 levels)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Congestion state: Low, Medium, High, Jam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weather_condition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Categorical (6 levels)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Weather state: Clear, Sunny, Cloudy, Foggy, Rainy, Stormy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time_of_day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Categorical (4 levels)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Order timestamp window: Morning, Afternoon, Evening, Night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delivery_partner_rating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Float (Continuous)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Historical partner efficiency rating (3.0 to 5.0 stars)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delivery_time_min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Float (Target)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Total elapsed order duration in minutes (Target Variable)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023360" cy="4846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1645920"/>
            <a:ext cx="3657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</a:defRPr>
            </a:pPr>
            <a:r>
              <a:t>Dataset Characteristics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Volume: 5,000 historical order records based on physical traffic and velocity equations.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Velocity Modeling: Traffic speeds mapped realistically (Low: 32 km/h, Med: 24 km/h, High: 16 km/h, Jam: 9 km/h).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Environmental Friction: Weather conditions introduce systematic road friction (Rain: +7m, Storm: +14m).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Missing Data: Injected ~4% missing values into traffic and weather fields to test dynamic imputation.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Extreme Delays: Injected ~3.5% isolated breakdown delays (35-75m) to evaluate model outlier resilience.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Target Distribution &amp; Outlier Treatment (IQR Method)</a:t>
            </a:r>
          </a:p>
        </p:txBody>
      </p:sp>
      <p:pic>
        <p:nvPicPr>
          <p:cNvPr id="3" name="Picture 2" descr="1_raw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120640" cy="343533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4709160"/>
            <a:ext cx="512064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818888"/>
            <a:ext cx="475488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Graph 1: Raw Delivery Time Distribution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Target Skewness: The raw distribution exhibits positive right skew (median = 43.2 min, max = 180 min).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Outlier Causes: Prolonged orders are caused by rare breakdown events (flat tires, kitchen failure, road blocks).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Imputation: Categorical missing fields imputed dynamically with column mode.</a:t>
            </a:r>
          </a:p>
        </p:txBody>
      </p:sp>
      <p:pic>
        <p:nvPicPr>
          <p:cNvPr id="6" name="Picture 5" descr="2_outlier_treatment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17320"/>
            <a:ext cx="5120640" cy="343721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09360" y="4709160"/>
            <a:ext cx="512064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4818888"/>
            <a:ext cx="475488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Graph 2: Outlier Detection &amp; Capping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IQR Threshold: Q1 = 33.6m, Q3 = 56.3m, IQR = 22.7m. Upper fence = Q3 + 1.5*IQR = 75.2 minutes.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Winsorization Treatment: Orders exceeding 75.2m are clipped to the upper boundary.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Mathematical Benefit: Prevents gradient explosion and excessive squared loss distortion during training.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Bivariate Predictor Analysis: Distance &amp; Kitchen Preparation Time</a:t>
            </a:r>
          </a:p>
        </p:txBody>
      </p:sp>
      <p:pic>
        <p:nvPicPr>
          <p:cNvPr id="3" name="Picture 2" descr="3_distance_vs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120640" cy="343251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4709160"/>
            <a:ext cx="512064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818888"/>
            <a:ext cx="475488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Graph 3: Distance vs Delivery Time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Primary Continuous Driver: Distance exhibits a strong positive relationship with delivery duration.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Kinematic Linearity: Travel time increases roughly linearly with distance under free-flow conditions.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Scatter Dispersion: Widening vertical dispersion at larger distances reflects compounding traffic drag.</a:t>
            </a:r>
          </a:p>
        </p:txBody>
      </p:sp>
      <p:pic>
        <p:nvPicPr>
          <p:cNvPr id="6" name="Picture 5" descr="4_prep_vs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17320"/>
            <a:ext cx="5120640" cy="34353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09360" y="4709160"/>
            <a:ext cx="512064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4818888"/>
            <a:ext cx="475488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Graph 4: Kitchen Preparation Time vs Delivery Time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Operational Baseline: Kitchen preparation represents a direct additive latency constant before transit.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Linear Regression Slope: Each additional minute of cooking time translates directly into +1 min of delivery time.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Operational Implication: Fast kitchen preparation is vital for maintaining acceptable sub-30 minute ETAs.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Environmental Factors: Traffic Congestion &amp; Weather Conditions</a:t>
            </a:r>
          </a:p>
        </p:txBody>
      </p:sp>
      <p:pic>
        <p:nvPicPr>
          <p:cNvPr id="3" name="Picture 2" descr="5_traffic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120640" cy="34381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4709160"/>
            <a:ext cx="512064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818888"/>
            <a:ext cx="475488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Graph 5: Traffic Density Impact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Non-Linear Traffic Surge: Median delivery time increases from 34 min in 'Low' traffic to 64 min in 'Jam' traffic.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Velocity Reduction: Average courier speed drops from 32 km/h in Low density to ~9 km/h during gridlock.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Variance Spread: 'Jam' conditions display the widest interquartile range, reflecting unpredictable transit.</a:t>
            </a:r>
          </a:p>
        </p:txBody>
      </p:sp>
      <p:pic>
        <p:nvPicPr>
          <p:cNvPr id="6" name="Picture 5" descr="6_weather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17320"/>
            <a:ext cx="5120640" cy="34353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09360" y="4709160"/>
            <a:ext cx="512064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4818888"/>
            <a:ext cx="475488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Graph 6: Weather Condition Impact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Weather Hazard Penalty: Clear and Sunny conditions offer baseline speeds; Stormy weather adds +14 min median delay.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Precipitation Friction: Rain and Fog degrade road traction and driver visibility, shifting ETAs rightward.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Interaction Effect: Adverse weather combined with peak traffic produces the most severe delay compounding.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Multicollinearity Diagnostics &amp; Partner Rating Impact</a:t>
            </a:r>
          </a:p>
        </p:txBody>
      </p:sp>
      <p:pic>
        <p:nvPicPr>
          <p:cNvPr id="3" name="Picture 2" descr="7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120640" cy="35933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4709160"/>
            <a:ext cx="512064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818888"/>
            <a:ext cx="475488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Graph 7: Feature Correlation Matrix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Absence of Multicollinearity: Zero correlation between predictors (|r| &lt; 0.05 between distance &amp; prep time).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Target Correlation: Distance shows the highest quantitative linear correlation with delivery time (r = 0.65).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Stability: Regression coefficients remain stable without variance inflation.</a:t>
            </a:r>
          </a:p>
        </p:txBody>
      </p:sp>
      <p:pic>
        <p:nvPicPr>
          <p:cNvPr id="6" name="Picture 5" descr="8_partner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17320"/>
            <a:ext cx="5120640" cy="34381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09360" y="4709160"/>
            <a:ext cx="512064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4818888"/>
            <a:ext cx="475488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Graph 8: Partner Rating vs Delivery Time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Partner Experience Effect: Higher-rated couriers (4.8 - 5.0 stars) show a slight negative slope with duration.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Pickup Efficiency: Experienced drivers save 2 to 3 minutes through faster restaurant pickup and parking.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Secondary Influence: Partner rating is a refinement factor compared to the dominant impact of distance and traffic.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Architectural Breakdown of the 5 Regression Algorithms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36192"/>
            <a:ext cx="10332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1. Linear Regression (Parametric Baseline)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Models linear relationship: y = w0 + sum(wi * xi). Fast and interpretable, but unable to model non-linear traffic velocity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23160"/>
            <a:ext cx="10698480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96312"/>
            <a:ext cx="10332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2. Polynomial Regression (Degree 2 Non-Linear)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Expands feature space with quadratic and interaction terms (e.g., distance * traffic). Captures non-linear compounding delays.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383280"/>
            <a:ext cx="10698480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56432"/>
            <a:ext cx="10332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3. Decision Tree (Orthogonal Partitioner)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Recursively splits feature space based on MSE reduction. Captures step-thresholds but exhibits high variance on continuous targets.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343400"/>
            <a:ext cx="10698480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16552"/>
            <a:ext cx="10332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4. Random Forest (Bagging Ensemble (100 Trees))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Averages 100 decorrelated decision trees built on bootstrap samples. Substantially reduces variance and resists overfitting.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303520"/>
            <a:ext cx="10698480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76672"/>
            <a:ext cx="103327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5. Gradient Boosting (Sequential Boosting Ensemble)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Sequentially trains shallow trees on pseudo-residuals using gradient descent. Achieves the highest predictive accuracy and lowest errors.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Empirical Benchmark: Accuracy (R2) &amp; Error Comparison Across Models</a:t>
            </a:r>
          </a:p>
        </p:txBody>
      </p:sp>
      <p:pic>
        <p:nvPicPr>
          <p:cNvPr id="3" name="Picture 2" descr="9_r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120640" cy="34334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4709160"/>
            <a:ext cx="512064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818888"/>
            <a:ext cx="475488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Graph 9: R-Squared Comparison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Top Performer: Gradient Boosting achieves the highest R2 score of 0.755 (5-Fold CV R2 = 0.778).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Polynomial Competitiveness: Polynomial regression (R2 = 0.754) closely matches tree boosting by capturing 2nd-degree interactions.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Tree Weakness: Single Decision Tree lags at R2 = 0.659 due to stepwise variance.</a:t>
            </a:r>
          </a:p>
        </p:txBody>
      </p:sp>
      <p:pic>
        <p:nvPicPr>
          <p:cNvPr id="6" name="Picture 5" descr="10_rmse_ma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17320"/>
            <a:ext cx="5120640" cy="34353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09360" y="4709160"/>
            <a:ext cx="512064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4818888"/>
            <a:ext cx="475488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Graph 10: RMSE vs MAE Across Models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Lowest Absolute Error: Gradient Boosting achieves lowest MAE (5.02 min) and lowest RMSE (9.36 min).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Error Ranking: Gradient Boosting &lt; Polynomial Reg &lt; Random Forest &lt; Linear Reg &lt; Decision Tree.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Cross-Validation Stability: Fold-to-fold variance remained under 0.015, verifying consistent generalization.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In-Depth Comparative Study: MAE vs RMSE and Outlier Sensitivity</a:t>
            </a:r>
          </a:p>
        </p:txBody>
      </p:sp>
      <p:pic>
        <p:nvPicPr>
          <p:cNvPr id="3" name="Picture 2" descr="11_outlier_di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217920" cy="360251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223760" y="1417320"/>
            <a:ext cx="4206240" cy="4937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52360" y="1645920"/>
            <a:ext cx="3749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</a:defRPr>
            </a:pPr>
            <a:r>
              <a:t>Why MAE is Preferred Over RMSE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Mathematical Formulation: MAE penalizes deviations linearly: e_i = |y - y_hat|. RMSE squares individual deviations: e_i^2.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Quadratic Inflation: An isolated delay of 60 minutes contributes 60 to MAE, but 3,600 to squared error space (MSE/RMSE)!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Empirical Evidence from Graph 11: When evaluated on raw delayed orders: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   - MAE increases only modestly from 5.0m to 5.9m (+18%).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   - RMSE spikes dramatically from 9.4m to 15.6m (+66%)!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Customer Expectation Alignment: Food delivery customers perceive ETA error linearly. Telling a customer 'our delivery is within +/- 5 mins on average' is meaningful and accurate.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Operational Conclusion: MAE is the superior primary metric because isolated black-swan events (flat tire, kitchen breakdown) unfairly dominate and distort RMSE.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Diagnostic Residual Analysis on Gradient Boosting Regressor</a:t>
            </a:r>
          </a:p>
        </p:txBody>
      </p:sp>
      <p:pic>
        <p:nvPicPr>
          <p:cNvPr id="3" name="Picture 2" descr="12_residual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120640" cy="344289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4709160"/>
            <a:ext cx="512064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818888"/>
            <a:ext cx="475488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Graph 12: Residuals vs Predicted Values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Homoscedasticity Verified: Residual scatter remains uniformly dispersed across the entire predicted ETA spectrum.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No Cone-Shaped Variance: Error spread is consistent whether predicting short (20 min) or long (70 min) deliveries.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Zero Systematic Pattern: Red dashed line at zero shows random scatter with no non-linear curvature.</a:t>
            </a:r>
          </a:p>
        </p:txBody>
      </p:sp>
      <p:pic>
        <p:nvPicPr>
          <p:cNvPr id="6" name="Picture 5" descr="13_residual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17320"/>
            <a:ext cx="5120640" cy="34325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09360" y="4709160"/>
            <a:ext cx="512064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4818888"/>
            <a:ext cx="475488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Graph 13: Residual Error Distribution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Gaussian Error Normality: Residual distribution closely matches a symmetric bell curve centered at zero.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Unbiased Predictions: The mean residual error is 0.003 minutes, confirming that predictions are globally unbiased.</a:t>
            </a:r>
          </a:p>
          <a:p>
            <a:pPr>
              <a:spcAft>
                <a:spcPts val="300"/>
              </a:spcAft>
              <a:defRPr sz="1000">
                <a:solidFill>
                  <a:srgbClr val="1E293B"/>
                </a:solidFill>
              </a:defRPr>
            </a:pPr>
            <a:r>
              <a:t>- Signal Exhaustion: Confirms that the model successfully extracted all learnable structural signals from the dataset.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Feature Importance: Identifying Key Operational Determinants</a:t>
            </a:r>
          </a:p>
        </p:txBody>
      </p:sp>
      <p:pic>
        <p:nvPicPr>
          <p:cNvPr id="3" name="Picture 2" descr="14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217920" cy="361067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223760" y="1417320"/>
            <a:ext cx="4206240" cy="4937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52360" y="1645920"/>
            <a:ext cx="3749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</a:defRPr>
            </a:pPr>
            <a:r>
              <a:t>Operational Drivers Breakdown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- 1. Trip Distance (~48% Relative Weight): The single largest factor governing order duration. Direct driver of baseline transit kilometers.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- 2. Traffic Congestion (~24% Relative Weight): 'Jam' and 'High' congestion act as massive friction multipliers on transit velocity.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- 3. Kitchen Preparation Time (~18% Relative Weight): Critical pre-dispatch operational bottleneck.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- 4. Weather Conditions (~7% Relative Weight): Storm and Rain conditions contribute non-trivial delays to courier speed.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- 5. Partner Rating &amp; Time of Day (~3%): Minor operational efficiency contributors.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Operational Takeaway: Food platforms can achieve maximum ETA accuracy gains by integrating live traffic telemetry and dynamic kitchen readiness tracking.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Interactive Web Application Deployment (Streamlit)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328416" cy="4846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96265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</a:defRPr>
            </a:pPr>
            <a:r>
              <a:t>Application Architecture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Framework: Streamlit (Full-Stack Python)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Inference Engine: Serialized Scikit-learn Pipeline (best_delivery_model.pkl)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Pre-processing: Dynamic categorical dummy encoding and standard scaling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Caching: @st.cache_resource ensures the model is loaded only once in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425696" y="1463040"/>
            <a:ext cx="3328416" cy="4846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08576" y="1645920"/>
            <a:ext cx="296265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</a:defRPr>
            </a:pPr>
            <a:r>
              <a:t>User Interface Controls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Interactive Inputs: Sliders for Distance (0.5-25 km) &amp; Kitchen Prep (5-50 min)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Environmental Inputs: Dropdowns for Traffic Level, Weather Condition, Time of Day, and Partner Rating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Primary Output: Large, clear ETA display in minutes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Confidence Window: Dynamic operational window (ETA +/- MAE)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Visible Toggles: Priority Dispatch switch (-15% transit buffer) and Detail View toggle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119872" y="1463040"/>
            <a:ext cx="3328416" cy="4846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2752" y="1645920"/>
            <a:ext cx="296265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</a:defRPr>
            </a:pPr>
            <a:r>
              <a:t>Cloud Deployment Workflow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Source Control: GitHub repository (Rizwan2611/food-delivery-time-prediction)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Cloud Host: Streamlit Community Cloud (Free public web hosting)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Automated CI/CD: Instant hot-reloading on every GitHub push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Production URL: Publicly accessible across desktop and mobile devices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Empirical Solutions to Case Study Questions (1 to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F172A"/>
                </a:solidFill>
              </a:defRPr>
            </a:pPr>
            <a:r>
              <a:t>Q1: Can delivery time be predicted from order attributes?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YES. The regression models achieve R2 = 0.755 with a Mean Absolute Error of ~5.0 minutes. Order attributes (distance, prep time, traffic level, and weather) provide robust predictive power to estimate delivery duration.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651760"/>
            <a:ext cx="1069848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F172A"/>
                </a:solidFill>
              </a:defRPr>
            </a:pPr>
            <a:r>
              <a:t>Q2: Which factor most affects delivery time?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Trip Distance and Traffic Congestion are the two most dominant factors, accounting for &gt;70% of total model variance. Distance dictates the baseline route kilometers, while traffic acts as a non-linear velocity multiplier.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840480"/>
            <a:ext cx="1069848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F172A"/>
                </a:solidFill>
              </a:defRPr>
            </a:pPr>
            <a:r>
              <a:t>Q3: Why might MAE be preferred over RMSE here?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Because RMSE squares individual errors, isolated extreme delays (e.g. 60-min vehicle breakdown) exponentially inflate the metric. MAE treats error proportionally, aligning directly with everyday customer expectations.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69848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F172A"/>
                </a:solidFill>
              </a:defRPr>
            </a:pPr>
            <a:r>
              <a:t>Q4: How do extremely delayed orders affect each metric?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Extremely delayed orders cause RMSE to surge by +66% (from 9.4m to 15.6m), whereas MAE increases by only +18% (from 5.0m to 5.9m). Outliers corrupt squared metrics while leaving absolute metrics stable.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Empirical Solutions to Questions (5 to 7) &amp;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024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327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F172A"/>
                </a:solidFill>
              </a:defRPr>
            </a:pPr>
            <a:r>
              <a:t>Q5: Which algorithm performs best?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Gradient Boosting Regressor achieved the highest performance (R2 = 0.7545, RMSE = 9.36m, MAE = 5.02m), closely followed by Polynomial Regression and Random Forest. Tree ensembles excel at capturing non-linear feature interactions.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606040"/>
            <a:ext cx="10698480" cy="1024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103327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F172A"/>
                </a:solidFill>
              </a:defRPr>
            </a:pPr>
            <a:r>
              <a:t>Q6: How well does the model perform on new orders?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Through 5-Fold Cross-Validation, the model demonstrated tight consistency (Mean CV R2 = 0.7783) across folds, confirming excellent generalization to unseen orders without overfitting.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749040"/>
            <a:ext cx="10698480" cy="10241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F172A"/>
                </a:solidFill>
              </a:defRPr>
            </a:pPr>
            <a:r>
              <a:t>Q7: Can the model be deployed for customer estimates?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YES. The model can provide a point estimate (e.g. 38 mins) alongside an operational confidence window (e.g. 33-43 mins, margin +/- 5.0 mins) for transparent customer communication.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120640"/>
            <a:ext cx="1069848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193792"/>
            <a:ext cx="1033272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B91C1C"/>
                </a:solidFill>
              </a:defRPr>
            </a:pPr>
            <a:r>
              <a:t>Real-World Limitations: Static Models vs. Real-Time Telemetry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Static vs GPS Telemetry: Static models categorize traffic into discrete levels rather than live route segments. Uncontrollable micro-events (elevator waits in high-rises, restaurant kitchen queue backlogs, sudden cloudbursts) create residual variance that requires real-time IoT integration.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Arial"/>
              </a:defRPr>
            </a:pPr>
            <a:r>
              <a:t>B.TECH CSE SEMESTER V - MACHINE LEARNING CASE STUDY 30</a:t>
            </a:r>
          </a:p>
          <a:p>
            <a:pPr>
              <a:defRPr sz="2100" b="1">
                <a:solidFill>
                  <a:srgbClr val="0F172A"/>
                </a:solidFill>
                <a:latin typeface="Arial"/>
              </a:defRPr>
            </a:pPr>
            <a:r>
              <a:t>Project Summary &amp;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5175504" cy="4846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809744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</a:defRPr>
            </a:pPr>
            <a:r>
              <a:t>Technical Achievements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Full Compliance: Completed every phase specified in B.Tech CSE Semester V Case Study 30.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Robust Data Pipeline: Dynamic mode imputation for missing data and IQR-based Winsorization for severe delay outliers.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- 5 Algorithm Benchmark: Evaluated Linear, Polynomial (Deg 2), Decision Tree, Random Forest, and Gradient Boosting.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Evaluation Rigor: Compared models via R2, MSE, RMSE, MAE, and 5-Fold Cross-Validation.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Assumption Validation: Validated linear regression assumptions using homoscedasticity and residual normality plots.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72784" y="1463040"/>
            <a:ext cx="5175504" cy="4846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55664" y="1645920"/>
            <a:ext cx="4809744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</a:defRPr>
            </a:pPr>
            <a:r>
              <a:t>Operational &amp; Business Value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Metric Rationale: Conclusively proved why MAE is the superior customer-facing metric over RMSE.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Operational Drivers: Identified Distance (~48%) and Traffic Congestion (~24%) as the primary drivers of order duration.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Production Ready: Deployed the trained model as an interactive, clean Streamlit web application.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Full Open-Source Code: Code, serialized model, and presentation fully synced to GitHub for one-click cloud hosting.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